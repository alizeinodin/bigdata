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>
              <a:defRPr sz="3200" b="1">
                <a:solidFill>
                  <a:srgbClr val="003366"/>
                </a:solidFill>
                <a:latin typeface="Noto Naskh Arabic"/>
              </a:defRPr>
            </a:pPr>
            <a:r>
              <a:t>محاسبات درون‌حافظه‌ای با کارایی بالا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>
              <a:defRPr sz="1800">
                <a:solidFill>
                  <a:srgbClr val="006699"/>
                </a:solidFill>
                <a:latin typeface="Noto Naskh Arabic"/>
              </a:defRPr>
            </a:pPr>
            <a:r>
              <a:t>بررسی پژوهشی لایه پایگاه‌داده SAP S/4HANA</a:t>
            </a:r>
            <a:br/>
            <a:br/>
            <a:r>
              <a:t>درس: پایگاه‌داده پیشرفته (کارشناسی ارشد)</a:t>
            </a:r>
            <a:br/>
            <a:r>
              <a:t>منبع: Raikar, T. (2025) — American Journal of Technology</a:t>
            </a:r>
            <a:br/>
            <a:r>
              <a:t>DOI: 10.58425/ajt.v4i2.449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چکیده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هدف: بررسی چگونگی دستیابی SAP S/4HANA به سرعت پردازش فوق‌العاده از طریق معماری درون‌حافظه‌ای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روش: مطالعه مستندات SAP HANA، اجرای کوئری‌های SQL، CDS Views و SQL Script، و تحلیل با ابزارهای ST05، ST12، SAT، DBACOCKPIT و PlanViz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یافته‌ها: ذخیره‌سازی ستونی، فشرده‌سازی Dictionary/Vector، پردازش Set-based، ایندکس‌گذاری و پارتیشن‌بندی کارایی را به‌شدت افزایش می‌دهند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نتیجه: ترکیب طراحی درون‌حافظه‌ای با بهینه‌سازی‌های لایه پایگاه‌داده، پایه پردازش بلادرنگ S/4HANA است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کلمات کلیدی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SAP S/4HANA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محاسبات درون‌حافظه‌ای (In-Memory Computing)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بهینه‌سازی کارایی پایگاه‌داده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تحلیل بلادرنگ (Real-time Analytics)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ذخیره‌سازی ستونی (Columnar Storage)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پردازش Set-based و Push-down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پردازش موازی و پارتیشن‌بندی جداول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Noto Naskh Arabic"/>
              </a:defRPr>
            </a:pPr>
            <a:r>
              <a:t>۱. مقدمه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چرا لایه پایگاه‌داده مهم است؟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کارایی SAP S/4HANA تحت تأثیر سه لایه وابسته به هم است: پایگاه‌داده، کاربرد (Application) و زیرساخت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در پایگاه‌داده‌های سنتی، هر کوئری تأخیر I/O دیسک ایجاد می‌کند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S/4HANA کل جداول، ایندکس‌ها و نتایج میانی را در RAM نگه می‌دارد و فقط برای پایداری گاه‌به‌گاه روی دیسک می‌نویسد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دسترسی به داده در میکروثانیه (به‌جای میلی‌ثانیه) تحول بنیادینی در پردازش بارهای سازمانی ایجاد می‌کند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معماری HTAP امکان اجرای همزمان تراکنش (OLTP) و تحلیل (OLAP) را بدون ETL فراهم می‌کند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معماری SAP S/4HANA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Connection &amp; Session Management: مدیریت اتصال و نشست کاربران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Calculation Engine: پردازش کوئری‌های SQL، SQL Script و MDX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Optimizer &amp; Plan Generator: یافتن سریع‌ترین مسیر اجرا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In-Memory Processing Engines:</a:t>
            </a:r>
          </a:p>
          <a:p>
            <a:pPr algn="r" lvl="1" a:rtl="1">
              <a:defRPr sz="1500">
                <a:solidFill>
                  <a:srgbClr val="464646"/>
                </a:solidFill>
                <a:latin typeface="Noto Naskh Arabic"/>
              </a:defRPr>
            </a:pPr>
            <a:r>
              <a:t>  ◦ Column/Row Engine — داده ساخت‌یافته</a:t>
            </a:r>
          </a:p>
          <a:p>
            <a:pPr algn="r" lvl="1" a:rtl="1">
              <a:defRPr sz="1500">
                <a:solidFill>
                  <a:srgbClr val="464646"/>
                </a:solidFill>
                <a:latin typeface="Noto Naskh Arabic"/>
              </a:defRPr>
            </a:pPr>
            <a:r>
              <a:t>  ◦ Graph Engine — روابط و سلسله‌مراتب</a:t>
            </a:r>
          </a:p>
          <a:p>
            <a:pPr algn="r" lvl="1" a:rtl="1">
              <a:defRPr sz="1500">
                <a:solidFill>
                  <a:srgbClr val="464646"/>
                </a:solidFill>
                <a:latin typeface="Noto Naskh Arabic"/>
              </a:defRPr>
            </a:pPr>
            <a:r>
              <a:t>  ◦ Text Engine — جستجوی متنی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Persistence Layer: ثبت لاگ، بازیابی و ذخیره‌سازی پایدار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Noto Naskh Arabic"/>
              </a:defRPr>
            </a:pPr>
            <a:r>
              <a:t>۲. مرور ادبیات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پژوهش‌های پیشین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Zhang Mei (2024): بهره‌گیری از مدل درون‌حافظه HANA برای تحلیل بلادرنگ و کاهش افزونگی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IRJMETS (2022/2025): تکنیک‌های partition pruning، push-down projection و data tiering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Müller et al. (2015): بهینه‌سازی join با aggregate cache و object-awareness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Plattner (2014): پایه نظری column store، فشرده‌سازی و pushdown در مدیریت داده درون‌حافظه‌ای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شکاف‌های پژوهشی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بیشتر مطالعات ویژگی‌ها را توضیح می‌دهند اما معیارهای واقعی runtime در S/4HANA ارائه نمی‌کنند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تأثیر indexing و partitioning روی بارهای کاری مختلف به‌طور کمی بررسی نشده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ابزارهای SAP مانند ST05، PlanViz و DBACOCKPIT کمتر در ادبیات استفاده شده‌اند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چارچوب یکپارچه‌ای برای تعامل query design، compression، indexing و partitioning وجود ندارد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این مقاله با رویکرد عملی این شکاف‌ها را پر می‌کند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Noto Naskh Arabic"/>
              </a:defRPr>
            </a:pPr>
            <a:r>
              <a:t>۳. روش‌شناسی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روش پژوهش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مبتنی بر مستندات SAP HANA، راهنمای توسعه S/4HANA و ادبیات HTAP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آزمایش عملی با SQL، CDS Views و SQL Script روی SAP HANA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مقایسه منطق ABAP مبتنی بر حلقه (Loop) با اجرای Set-based در پایگاه‌داده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ابزارهای تحلیل: ST05، ST12، SAT، DBACOCKPIT، PlanViz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بررسی execution plan، CPU usage، scan volume و رفتار parallel processing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Noto Naskh Arabic"/>
              </a:defRPr>
            </a:pPr>
            <a:r>
              <a:t>۴. اصول مدیریت داده درون‌حافظه‌ای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ذخیره‌سازی ستونی (Column Store)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برخلاف Row Store، داده‌ها ستون‌به‌ستون ذخیره می‌شوند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فقط ستون‌های مورد نیاز کوئری خوانده می‌شوند → کاهش شدید I/O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Dictionary Encoding: مقادیر یکتا در جدول lookup نگهداری می‌شوند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Vector Encoding: به‌جای مقدار خام، ValueID از dictionary ذخیره می‌شود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نتیجه: مصرف RAM کمتر و دسترسی سریع‌تر به داده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200" b="1">
                <a:solidFill>
                  <a:srgbClr val="003366"/>
                </a:solidFill>
                <a:latin typeface="Noto Naskh Arabic"/>
              </a:defRPr>
            </a:pPr>
            <a:r>
              <a:t>مزایای ذخیره‌سازی ستونی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4297680"/>
              </a:tblGrid>
              <a:tr h="757645"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بهینه‌سازی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بهبود سرعت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Column Store — داده اسکن‌شده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۸۰–۹۵٪ کاهش</a:t>
                      </a:r>
                    </a:p>
                  </a:txBody>
                  <a:tcPr/>
                </a:tc>
              </a:tr>
              <a:tr h="757645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Dictionary Encoding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۳ برابر سریع‌تر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Vector Encoding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۳–۶ برابر سریع‌تر</a:t>
                      </a:r>
                    </a:p>
                  </a:txBody>
                  <a:tcPr/>
                </a:tc>
              </a:tr>
              <a:tr h="757645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فشرده‌سازی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۳–۱۰ برابر کوچک‌تر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SUM/Aggregation Pushdown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۶۰–۸۰٪ سریع‌تر</a:t>
                      </a:r>
                    </a:p>
                  </a:txBody>
                  <a:tcPr/>
                </a:tc>
              </a:tr>
              <a:tr h="75765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Parallel Column Scans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۵–۱۶ برابر سریع‌تر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مقایسه Row Store و Column 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جدول ORDERS با ۱۰۰ میلیون سطر — کوئری: SUM(Amount) WHERE Country='IN'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Row Store (اسکن کامل): ≈ ۷.۲ GB خوانده می‌شود؛ ۹۰٪ بی‌فایده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Row Store (با B-tree index): ≈ ۳۶۰ MB + overhead دسترسی تصادفی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Column Store: فقط ستون‌های Country (≈100 MB) + Amount (≈800 MB) ≈ ۹۰۰ MB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Column Store حدود ۸ برابر سریع‌تر و CPU-friendlyتر است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پردازش موازی (Parallel Processing)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استفاده از multi-core CPU و distributed nodes در SAP HANA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تقسیم کوئری به subtaskهای همزمان (مثلاً هر منطقه جغرافیایی روی یک core)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اسکن ستونی موازی: ۵–۱۶ برابر سریع‌تر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تجمیع موازی: ۴–۱۲ برابر سریع‌تر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Join موازی: ۳–۱۰ برابر سریع‌تر — runtime از دقیقه به ثانیه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200" b="1">
                <a:solidFill>
                  <a:srgbClr val="003366"/>
                </a:solidFill>
                <a:latin typeface="Noto Naskh Arabic"/>
              </a:defRPr>
            </a:pPr>
            <a:r>
              <a:t>HTAP: ترکیب OLTP و OLAP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883920"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حوزه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ECC سنتی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SAP HANA (HTAP)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بهبود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گزارش عملیاتی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تأخیر ساعتی/روزانه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۰–۱ ثانیه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تا ۱۰۰۰×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ETL/Batch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شبانه/ساعتی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حذف کامل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۱۰۰٪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زمان کوئری تحلیلی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۱۰–۳۰۰ ثانیه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۰.۱–۱.۵ ثانیه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۲۰–۲۰۰×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Dashboard بلادرنگ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بعد از ETL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فوری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بلادرنگ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پیچیدگی landscape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ECC+BW+ETL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یک پایگاه HANA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۴۰–۶۰٪ کمتر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Noto Naskh Arabic"/>
              </a:defRPr>
            </a:pPr>
            <a:r>
              <a:t>۵. Push-Down Processing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پردازش Push-Down چیست؟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در SAP سنتی: منطق کسب‌وکار در Application Server (ABAP) اجرا می‌شد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داده خام از DB به App Server منتقل و در حلقه پردازش می‌شد → بار شبکه بالا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S/4HANA: محاسبات به لایه پایگاه‌داده «فرو رانده» می‌شوند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HANA تجمیع، join و filter را درون حافظه انجام می‌دهد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فقط نتیجه نهایی (نه داده خام) به App Server برمی‌گردد — کاهش ۸۰–۹۵٪ انتقال داده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طراحی کوئری (Query Design)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به‌جای ABAP Loop از Join، CDS View و Set-based logic استفاده کنید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CDS Views: Interface (I_)، Composite (C_)، Consumption (Z_/Y_)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فیلتر را زود اعمال کنید (WHERE قبل از HAVING)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از Window Functions استفاده کنید: ROW_NUMBER، RANK، LEAD، LAG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اصول Clean Core: namespace Z/Y، Extension Views، Adapt before Build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200" b="1">
                <a:solidFill>
                  <a:srgbClr val="003366"/>
                </a:solidFill>
                <a:latin typeface="Noto Naskh Arabic"/>
              </a:defRPr>
            </a:pPr>
            <a:r>
              <a:t>مزایای بهینه‌سازی کوئری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883920"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حوزه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ECC / ABAP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HANA Push-Down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بهبود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حجم انتقال داده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داده خام زیاد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فقط نتیجه فیلتر/تجمیع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۸۰–۹۵٪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محاسبات حلقه‌ای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App Server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Vectorized در HANA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۱۰–۵۰×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Aggregations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Loop در ABAP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Columnar در 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۲۰–۶۰×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Joins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SELECT SINGLE متعدد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Parallel join در HANA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۵–۳۰×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Filters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Boolean در ABAP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ValueID pushdown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۵–۲۰×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ایندکس‌گذاری (Indexing)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Dictionary encoding خود به‌نوعی index سبک است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Inverted Index: نگاشت ValueID → Row IDs (جستجوی سریع)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Full-Text Index: جستجوی متنی با حذف stop words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Multi-Column Index: dictionary ترکیبی برای چند ستون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انواع: Inverted Value، Inverted Hash، Inverted Individual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بهترین شیوه‌های Index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Inverted Value: سریع‌ترین read/join — برای PK و unique constraints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Inverted Hash: کاهش ≈۳۰٪ حافظه — برای PK با ستون‌های بلند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Inverted Individual: DML سریع‌تر — read کمی کندتر (۱۰–۲۰٪)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Composite key: ستون‌های selective اول، سپس equality، سپس range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از index روی ستون‌های low-selectivity (Boolean/status) خودداری کنید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فقط وقتی index بسازید که Expensive Statement Trace نیاز را نشان دهد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پارتیشن‌بندی جداول (Table Partitioning)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Hash Partitioning: توزیع یکنواخت بر اساس hash کلید — مناسب CUSTOMER_ID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Round-Robin: توزیع چرخشی — مناسب staging/ETL، نه lookup انتخابی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Range Partitioning: بر اساس بازه (مثلاً FISCAL_YEAR) — partition pruning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Hash: عبور از محدودیت ۲ میلیارد سطر + parallel scan روی nodes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Range: ایده‌آل برای داده سری‌زمانی (CALMONTH، DOC_DATE)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200" b="1">
                <a:solidFill>
                  <a:srgbClr val="003366"/>
                </a:solidFill>
                <a:latin typeface="Noto Naskh Arabic"/>
              </a:defRPr>
            </a:pPr>
            <a:r>
              <a:t>مزایای پارتیشن‌بندی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1325880"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حوزه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ECC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SAP HANA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200" b="1">
                          <a:solidFill>
                            <a:srgbClr val="FFFFFF"/>
                          </a:solidFill>
                          <a:latin typeface="Noto Naskh Arabic"/>
                        </a:defRPr>
                      </a:pPr>
                      <a:r>
                        <a:t>بهبود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Range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اسکن کل جدول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فقط partition مرتبط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تا ۹۵٪ کمتر</a:t>
                      </a:r>
                    </a:p>
                  </a:txBody>
                  <a:tcPr/>
                </a:tc>
              </a:tr>
              <a:tr h="132588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Parallel Processing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تک‌رشته‌ای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هر partition روی core جدا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۵–۲۵×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Join &amp; Aggregate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روی کل جدول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Partition-wise موازی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100">
                          <a:solidFill>
                            <a:srgbClr val="282828"/>
                          </a:solidFill>
                          <a:latin typeface="Noto Naskh Arabic"/>
                        </a:defRPr>
                      </a:pPr>
                      <a:r>
                        <a:t>۳–۱۵×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Noto Naskh Arabic"/>
              </a:defRPr>
            </a:pPr>
            <a:r>
              <a:t>۶. نتیجه‌گیری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نتیجه‌گیری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معماری درون‌حافظه S/4HANA با column store، compression، parallel processing و HTAP کارایی را متحول می‌کند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Push-down، indexing و partitioning باید به‌صورت یکپارچه در طراحی سیستم لحاظ شوند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انتقال محاسبات از ABAP Loop به CDS/SQL Script کاهش چشمگیر runtime و network load دارد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ابزارهای trace (ST05، PlanViz، ...) برای tuning عملی ضروری هستند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پژوهش‌های آینده: سناریوهای صنعتی، cloud multi-tenant و بارهای 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توصیه‌های عملی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برنامه‌نویسی Set-based را به push-down در پایگاه‌داده ترجیح دهید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Indexing و partitioning را متناسب با الگوی workload طراحی کنید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CDS Views لایه‌بندی‌شده و Clean Core را رعایت کنید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Performance engineering را در چرخه پیاده‌سازی بگنجانید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از HTAP برای حذف ETL و dashboard بلادرنگ روی داده عملیاتی بهره ببرید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600" b="1">
                <a:solidFill>
                  <a:srgbClr val="003366"/>
                </a:solidFill>
                <a:latin typeface="Noto Naskh Arabic"/>
              </a:defRPr>
            </a:pPr>
            <a:r>
              <a:t>منابع و اختصارات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CDS: Core Data Services | RAM: Random Access Memory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OLTP: Online Transaction Processing | OLAP: Online Analytical Processing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ETL: Extract, Transform, Load | HTAP: Hybrid Transactional/Analytical Processing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Raikar, T. (2025). High-Performance In-Memory Computing: A Research Study on SAP S/4 HANA Database Layer. American Journal of Technology, 4(2), 94–113.</a:t>
            </a:r>
          </a:p>
          <a:p>
            <a:pPr algn="r" a:rtl="1">
              <a:spcAft>
                <a:spcPts val="800"/>
              </a:spcAft>
              <a:defRPr sz="1700">
                <a:solidFill>
                  <a:srgbClr val="282828"/>
                </a:solidFill>
                <a:latin typeface="Noto Naskh Arabic"/>
              </a:defRPr>
            </a:pPr>
            <a:r>
              <a:t>• DOI: https://doi.org/10.58425/ajt.v4i2.449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>
              <a:defRPr sz="3200" b="1">
                <a:solidFill>
                  <a:srgbClr val="003366"/>
                </a:solidFill>
                <a:latin typeface="Noto Naskh Arabic"/>
              </a:defRPr>
            </a:pPr>
            <a:r>
              <a:t>سپاس از توجه شما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>
              <a:defRPr sz="1800">
                <a:solidFill>
                  <a:srgbClr val="006699"/>
                </a:solidFill>
                <a:latin typeface="Noto Naskh Arabic"/>
              </a:defRPr>
            </a:pPr>
            <a:r>
              <a:t>سوالات؟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