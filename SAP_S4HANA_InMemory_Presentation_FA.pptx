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400" b="1">
                <a:solidFill>
                  <a:srgbClr val="003366"/>
                </a:solidFill>
                <a:latin typeface="Vazir"/>
              </a:rPr>
              <a:t>محاسبات</a:t>
            </a:r>
            <a:r>
              <a:rPr sz="3400" b="1">
                <a:solidFill>
                  <a:srgbClr val="003366"/>
                </a:solidFill>
                <a:latin typeface="Vazir"/>
              </a:rPr>
              <a:t> </a:t>
            </a:r>
            <a:r>
              <a:rPr sz="3400" b="1">
                <a:solidFill>
                  <a:srgbClr val="003366"/>
                </a:solidFill>
                <a:latin typeface="Vazir"/>
              </a:rPr>
              <a:t>درون‌حافظه‌ای</a:t>
            </a:r>
            <a:r>
              <a:rPr sz="3400" b="1">
                <a:solidFill>
                  <a:srgbClr val="003366"/>
                </a:solidFill>
                <a:latin typeface="Vazir"/>
              </a:rPr>
              <a:t> </a:t>
            </a:r>
            <a:r>
              <a:rPr sz="3400" b="1">
                <a:solidFill>
                  <a:srgbClr val="003366"/>
                </a:solidFill>
                <a:latin typeface="Vazir"/>
              </a:rPr>
              <a:t>با</a:t>
            </a:r>
            <a:r>
              <a:rPr sz="3400" b="1">
                <a:solidFill>
                  <a:srgbClr val="003366"/>
                </a:solidFill>
                <a:latin typeface="Vazir"/>
              </a:rPr>
              <a:t> </a:t>
            </a:r>
            <a:r>
              <a:rPr sz="3400" b="1">
                <a:solidFill>
                  <a:srgbClr val="003366"/>
                </a:solidFill>
                <a:latin typeface="Vazir"/>
              </a:rPr>
              <a:t>کارایی</a:t>
            </a:r>
            <a:r>
              <a:rPr sz="3400" b="1">
                <a:solidFill>
                  <a:srgbClr val="003366"/>
                </a:solidFill>
                <a:latin typeface="Vazir"/>
              </a:rPr>
              <a:t> </a:t>
            </a:r>
            <a:r>
              <a:rPr sz="3400" b="1">
                <a:solidFill>
                  <a:srgbClr val="003366"/>
                </a:solidFill>
                <a:latin typeface="Vazir"/>
              </a:rPr>
              <a:t>بالا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2000" b="0">
                <a:solidFill>
                  <a:srgbClr val="006699"/>
                </a:solidFill>
                <a:latin typeface="Vazir"/>
              </a:rPr>
              <a:t>بررسی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پژوهشی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لایه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پایگاه‌داده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⁦SAP S/4HANA⁩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6400800" cy="20116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a:rtl="1">
              <a:spcAft>
                <a:spcPts val="600"/>
              </a:spcAft>
            </a:pPr>
            <a:r>
              <a:rPr sz="1800" b="1">
                <a:solidFill>
                  <a:srgbClr val="003366"/>
                </a:solidFill>
                <a:latin typeface="Vazir"/>
              </a:rPr>
              <a:t>ارائه‌دهنده: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سید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علی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زین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الدینی</a:t>
            </a:r>
          </a:p>
          <a:p>
            <a:pPr algn="ctr" a:rtl="1">
              <a:spcAft>
                <a:spcPts val="600"/>
              </a:spcAft>
            </a:pPr>
            <a:r>
              <a:rPr sz="1800" b="1">
                <a:solidFill>
                  <a:srgbClr val="003366"/>
                </a:solidFill>
                <a:latin typeface="Vazir"/>
              </a:rPr>
              <a:t>استاد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درس: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دکتر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صادق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زاده</a:t>
            </a:r>
          </a:p>
          <a:p>
            <a:pPr algn="ctr" a:rtl="1">
              <a:spcAft>
                <a:spcPts val="600"/>
              </a:spcAft>
            </a:pPr>
            <a:r>
              <a:rPr sz="1800" b="1">
                <a:solidFill>
                  <a:srgbClr val="003366"/>
                </a:solidFill>
                <a:latin typeface="Vazir"/>
              </a:rPr>
              <a:t>نام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درس: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پایگاه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داده</a:t>
            </a:r>
            <a:r>
              <a:rPr sz="1800" b="1">
                <a:solidFill>
                  <a:srgbClr val="003366"/>
                </a:solidFill>
                <a:latin typeface="Vazir"/>
              </a:rPr>
              <a:t> </a:t>
            </a:r>
            <a:r>
              <a:rPr sz="1800" b="1">
                <a:solidFill>
                  <a:srgbClr val="003366"/>
                </a:solidFill>
                <a:latin typeface="Vazir"/>
              </a:rPr>
              <a:t>پیشرفته</a:t>
            </a:r>
          </a:p>
          <a:p>
            <a:pPr algn="ctr" a:rtl="1">
              <a:spcAft>
                <a:spcPts val="600"/>
              </a:spcAft>
            </a:pP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منبع: Raikar, T. (2025) — American Journal of Technology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DOI: 10.58425/ajt.v4i2.449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چکیده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مقاله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هدف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پژوهش: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بررسی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چگونگی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دستیابی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 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سرعت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فوق‌العاده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طریق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معماری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درون‌حافظه‌ای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پایگاه‌داده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منبع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اصلی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چالش‌های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کارایی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سیستم‌های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کار: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مطالعه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مستندات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 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کوئری‌های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⁦CDS Views⁩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 Script⁩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سیستم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واقعی،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ابزارهای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⁦ST05⁩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⁦ST12⁩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⁦SAT⁩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⁦DBACOCKPIT⁩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⁦PlanViz.⁩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یافته‌های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کلیدی: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ذخیره‌سازی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ستونی،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فشرده‌سازی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⁦Dictionary/Vector⁩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⁦Set-based⁩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ایندکس‌گذاری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پیشرفته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پارتیشن‌بندی،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هرکدام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به‌طور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جداگانه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کارایی،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مقیاس‌پذیری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بلادرنگ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به‌شدت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افزایش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می‌دهند.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نتیجه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کلی: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ترکیب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طراحی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درون‌حافظه‌ای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بهینه‌سازی‌های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آگاهانه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پایگاه‌داده،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پایه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اساس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بلادرنگ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تراکنش‌های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زیر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ثانیه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توصیه: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توسعه‌دهندگان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باید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برنامه‌نویسی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⁦Set-based⁩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ایندکس‌گذاری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مناسب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پارتیشن‌بندی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هوشمند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اولویت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قرار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دهند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محاسبات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حد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ممکن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کنند.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کلمات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کلیدی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⁦SAP S/4HANA⁩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نسل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جدید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⁦ERP⁩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ساپ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با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موتور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⁦HANA⁩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⁦In-Memory Computing⁩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نگهداری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و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در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⁦RAM⁩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به‌جای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دیسک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⁦Columnar Storage⁩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ذخیره‌سازی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ستونی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کوئری‌های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تحلیلی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⁦Real-time Analytics⁩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بلادرنگ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بدون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تأخیر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⁦ETL⁩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⁦Set-based Processing⁩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مجموعه‌ای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به‌جای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حلقه‌های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تک‌سطری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⁦Push-down Processing⁩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انتقال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منطق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محاسباتی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به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پایگاه‌داده</a:t>
            </a:r>
          </a:p>
          <a:p>
            <a:pPr algn="r" a:rtl="1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Vazir"/>
              </a:rPr>
              <a:t>•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⁦Parallel Processing &amp; Table Partitioning⁩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—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و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توزیع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موازی</a:t>
            </a:r>
            <a:r>
              <a:rPr sz="1500" b="0">
                <a:solidFill>
                  <a:srgbClr val="282828"/>
                </a:solidFill>
                <a:latin typeface="Vazir"/>
              </a:rPr>
              <a:t> </a:t>
            </a:r>
            <a:r>
              <a:rPr sz="1500" b="0">
                <a:solidFill>
                  <a:srgbClr val="282828"/>
                </a:solidFill>
                <a:latin typeface="Vazir"/>
              </a:rPr>
              <a:t>داده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FFFFFF"/>
                </a:solidFill>
                <a:latin typeface="Vazir"/>
              </a:rPr>
              <a:t>۱.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مقدمه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۴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چرا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لایه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پایگاه‌داده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مهم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است؟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206240" cy="548640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5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کارایی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⁦SAP S/4HANA⁩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تحت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تأثیر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وابسته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است: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پایگاه‌داده،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کاربرد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⁦(Application)⁩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زیرساخت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سخت‌افزاری.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بهینه‌سازی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هر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لایه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دستیابی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کارایی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پایدار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ضروری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5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پایگاه‌داده‌های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سنتی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مبتنی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دیسک،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هر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کوئری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باید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را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از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⁦storage⁩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فیزیکی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بخواند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تأخیر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⁦I/O⁩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ایجاد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می‌کند.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این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موضوع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سیستم‌هایی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هزاران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کاربر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همزمان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به‌شدت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محسوس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می‌شود.</a:t>
            </a:r>
          </a:p>
          <a:p>
            <a:pPr algn="r" a:rtl="1">
              <a:spcAft>
                <a:spcPts val="5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کل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جداول،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ایندکس‌ها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نتایج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میانی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را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⁦RAM⁩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نگه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می‌دارد.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نوشتن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روی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دیسک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فقط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⁦persistence⁩</a:t>
            </a:r>
            <a:r>
              <a:rPr sz="1300" b="0">
                <a:solidFill>
                  <a:srgbClr val="282828"/>
                </a:solidFill>
                <a:latin typeface="Vazir"/>
              </a:rPr>
              <a:t>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⁦backup⁩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⁦recovery⁩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انجام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می‌شود.</a:t>
            </a:r>
          </a:p>
          <a:p>
            <a:pPr algn="r" a:rtl="1">
              <a:spcAft>
                <a:spcPts val="5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دسترسی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میکروثانیه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(به‌جای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میلی‌ثانیه)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تحول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بنیادینی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ایجاد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می‌کند: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تراکنش‌های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زیر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یک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ثانیه،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⁦dashboard⁩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بلادرنگ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روی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عملیاتی.</a:t>
            </a:r>
          </a:p>
          <a:p>
            <a:pPr algn="r" a:rtl="1">
              <a:spcAft>
                <a:spcPts val="5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معماری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⁦HTAP⁩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⁦(Hybrid OLTP+OLAP)⁩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امکان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اجرای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همزمان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تراکنش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و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را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بدون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نیاز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⁦ETL⁩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شبانه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فراهم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می‌کند.</a:t>
            </a:r>
          </a:p>
        </p:txBody>
      </p:sp>
      <p:pic>
        <p:nvPicPr>
          <p:cNvPr id="5" name="Picture 4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4114800" cy="245225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۵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معماری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⁦SAP S/4HANA⁩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795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۱: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لایه‌های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اصلی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معماری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⁦In-Memory SAP S/4HANA⁩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۶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اجزای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کلیدی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معماری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(توضیحات)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⁦Connection &amp; Session Management:⁩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مدیریت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اتصال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کاربران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نشست‌ها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نقطه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ورود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تمام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درخواست‌ها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سیستم.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⁦Authorization Manager:⁩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کنترل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دسترسی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کاربران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مجاز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می‌توانند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ببینند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تغییر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دهند.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⁦Calculation Engine:⁩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دریافت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کوئری‌های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 Script⁩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⁦MDX⁩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انجام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محاسبات.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⁦Optimizer &amp; Plan Generator:⁩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یافتن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سریع‌ترین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⁦plan⁩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⁦cost-based.⁩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⁦In-Memory Processing Engines: Column/Row Engine⁩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(جداول)،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⁦Graph Engine⁩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(شبکه/سلسله‌مراتب)،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⁦Text Engine⁩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(جستجوی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متنی).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⁦Transaction Manager:⁩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تضمین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⁦ACID⁩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⁦consistency⁩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همزمان.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⁦Persistence Layer: logging⁩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⁦recovery⁩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ذخیره‌سازی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پایدار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جلوگیری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دست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رفتن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۷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FFFFFF"/>
                </a:solidFill>
                <a:latin typeface="Vazir"/>
              </a:rPr>
              <a:t>۲.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مرور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ادبیات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۸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پژوهش‌های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پیشین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⁦Zhang Mei⁩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</a:t>
            </a:r>
            <a:r>
              <a:rPr sz="1400" b="0">
                <a:solidFill>
                  <a:srgbClr val="282828"/>
                </a:solidFill>
                <a:latin typeface="Vazir"/>
              </a:rPr>
              <a:t>⁦2024):⁩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تأکید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مدل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درون‌حافظه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تحلیل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بلادرنگ،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بهینه‌سازی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مدل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افزونگی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⁦scale⁩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کردن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سخت‌افزار.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IRJMETS (2022/2025): تکنیک‌های partition pruning، push-down projection، data tiering و workload-aware tuning برای کاهش مصرف حافظه و runtime.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Müller et al. (2015): بهینه‌سازی join با aggregate cache و object-awareness — بهبود چند-magnitude در کوئری‌های join-aggregate.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Plattner (2014): پایه نظری column store، compression و pushdown — بنیان‌گذار مفاهیم In-Memory Data Management.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⁦Jain⁩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⁦(n.d.)⁩</a:t>
            </a:r>
            <a:r>
              <a:rPr sz="1400" b="0">
                <a:solidFill>
                  <a:srgbClr val="282828"/>
                </a:solidFill>
                <a:latin typeface="Vazir"/>
              </a:rPr>
              <a:t>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بهینه‌سازی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⁦workload⁩</a:t>
            </a:r>
            <a:r>
              <a:rPr sz="1400" b="0">
                <a:solidFill>
                  <a:srgbClr val="282828"/>
                </a:solidFill>
                <a:latin typeface="Vazir"/>
              </a:rPr>
              <a:t>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حجیم.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۹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شکاف‌های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پژوهشی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و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نوآوری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این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مقاله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ادبیات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موجود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بیشتر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ویژگی‌های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توضیح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اما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معیارهای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⁦runtime⁩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واقعی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کمتر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گزارش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کرده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تأثیر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⁦workload⁩</a:t>
            </a:r>
            <a:r>
              <a:rPr sz="1400" b="0">
                <a:solidFill>
                  <a:srgbClr val="282828"/>
                </a:solidFill>
                <a:latin typeface="Vazir"/>
              </a:rPr>
              <a:t>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مختلف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⁦(OLTP، OLAP، mixed)⁩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به‌طور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کمی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بررسی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نشده.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ابزارهای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مانند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⁦ST05⁩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⁦PlanViz⁩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⁦DBACOCKPIT⁩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پژوهش‌ها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کمتر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شده‌اند.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چارچوب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یکپارچه‌ای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تعامل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⁦query design⁩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⁦compression⁩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وجود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ندارد.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این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مقاله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رویکرد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عملی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⁦(hands-on)⁩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ابزارهای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⁦trace⁩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این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شکاف‌ها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می‌کند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⁦framework⁩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یکپارچه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ارائه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۱۰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FFFFFF"/>
                </a:solidFill>
                <a:latin typeface="Vazir"/>
              </a:rPr>
              <a:t>۳.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روش‌شناسی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۱۱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۱۱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روش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پژوهش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مبانی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نظری: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مستندات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 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راهنمای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توسعه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ادبیات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⁦HTAP⁩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⁦in-memory databases.⁩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آزمایش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عملی: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 queries⁩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⁦CDS Views⁩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⁦SQL Script procedures⁩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 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⁦dataset⁩</a:t>
            </a:r>
            <a:r>
              <a:rPr sz="1400" b="0">
                <a:solidFill>
                  <a:srgbClr val="282828"/>
                </a:solidFill>
                <a:latin typeface="Vazir"/>
              </a:rPr>
              <a:t>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کنترل‌شده.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مقایسه: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منطق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⁦ABAP⁩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مبتنی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⁦LOOP AT⁩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...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⁦ENDLOOP⁩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برابر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⁦Set-based⁩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⁦push-down⁩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⁦DB.⁩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ابزارهای تحلیل: ST05 (SQL trace)، ST12 (ABAP+DB trace)، SAT (runtime analysis)، DBACOCKPIT (DB monitoring)، PlanViz (execution plan visualization).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معیارها: execution plan، CPU usage، scan volume، memory usage، push-down efficiency و parallel processing behavior.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هدف: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اینکه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چگونه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⁦storage structures⁩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⁦compression⁩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⁦runtime⁩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تأثیر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می‌گذارند.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FFFFFF"/>
                </a:solidFill>
                <a:latin typeface="Vazir"/>
              </a:rPr>
              <a:t>۴.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اصول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مدیریت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داده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درون‌حافظه‌ای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۱۳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۱۳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ذخیره‌سازی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ستونی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⁦(Column Store)⁩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023360" cy="548640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⁦Row Store⁩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داده‌ها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سطر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سطر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ذخیره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می‌شوند؛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⁦Column Store⁩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هر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ستون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جداگانه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حافظه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قرار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می‌گیرد.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مزیت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اصلی: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کوئری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فقط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ستون‌های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مورد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نیاز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را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می‌خواند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چشمگیر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⁦I/O⁩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⁦CPU.⁩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⁦Dictionary Encoding:⁩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مقادیر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یکتا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⁦(distinct)⁩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جدول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⁦lookup⁩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نگهداری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می‌شوند؛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مقادیر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تکراری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ذخیره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نمی‌شوند.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⁦Vector Encoding:⁩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به‌جای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مقدار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خام،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⁦ValueID⁩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⁦(اشاره‌گر به dictionary)⁩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ذخیره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می‌شود.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این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تکنیک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هم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فشرده‌سازی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هم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سرعت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⁦lookup⁩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را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بهبود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می‌دهند.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کوئری‌های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⁦SELECT SUM⁩</a:t>
            </a:r>
            <a:r>
              <a:rPr sz="1200" b="0">
                <a:solidFill>
                  <a:srgbClr val="282828"/>
                </a:solidFill>
                <a:latin typeface="Vazir"/>
              </a:rPr>
              <a:t>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⁦GROUP BY⁩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فیلتر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روی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ستون‌های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محدود،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⁦Column Store⁩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به‌شدت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برتر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است.</a:t>
            </a:r>
          </a:p>
        </p:txBody>
      </p:sp>
      <p:pic>
        <p:nvPicPr>
          <p:cNvPr id="5" name="Picture 4" descr="dictionary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4297680" cy="212713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۱۴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فشرده‌سازی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⁦Dictionary⁩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و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⁦Vector⁩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ctionary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398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۲: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نحوه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فشرده‌سازی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ستون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⁦Amount⁩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با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⁦Dictionary⁩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و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⁦Vector⁩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۱۵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مزایای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ذخیره‌سازی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ستونی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umn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9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۳: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مقایسه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بهبود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سرعت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تکنیک‌های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⁦Column Store⁩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۱۶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جدول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۱: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مزایای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⁦Column Store⁩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(از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مقاله)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4297680"/>
              </a:tblGrid>
              <a:tr h="770708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بهینه‌سازی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بهبود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سرعت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770708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⁦Column Store⁩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—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داده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اسکن‌شده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۸۰–۹۵٪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کاهش</a:t>
                      </a:r>
                    </a:p>
                  </a:txBody>
                  <a:tcPr/>
                </a:tc>
              </a:tr>
              <a:tr h="770708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Dictionary Encoding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۳×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70708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Vector Encoding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۳–۶×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سریع‌تر</a:t>
                      </a:r>
                    </a:p>
                  </a:txBody>
                  <a:tcPr/>
                </a:tc>
              </a:tr>
              <a:tr h="770708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فشرده‌سازی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۳–۱۰×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کوچک‌تر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70708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SUM/Aggregation Pushdown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۶۰–۸۰٪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سریع‌تر</a:t>
                      </a:r>
                    </a:p>
                  </a:txBody>
                  <a:tcPr/>
                </a:tc>
              </a:tr>
              <a:tr h="770712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Parallel Column Scans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۵–۱۶×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۱۷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sz="2400" b="1">
                <a:solidFill>
                  <a:srgbClr val="003366"/>
                </a:solidFill>
                <a:latin typeface="Vazir"/>
              </a:rPr>
              <a:t>مقایسه Row Store و Column 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3840480" cy="548640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سناریو: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جدول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⁦ORDERS⁩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۱۰۰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میلیون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سطر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کوئری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⁦SUM(Amount) WHERE Country⁩</a:t>
            </a:r>
            <a:r>
              <a:rPr sz="1200" b="0">
                <a:solidFill>
                  <a:srgbClr val="282828"/>
                </a:solidFill>
                <a:latin typeface="Vazir"/>
              </a:rPr>
              <a:t>='</a:t>
            </a:r>
            <a:r>
              <a:rPr sz="1200" b="0">
                <a:solidFill>
                  <a:srgbClr val="282828"/>
                </a:solidFill>
                <a:latin typeface="Vazir"/>
              </a:rPr>
              <a:t>⁦IN'⁩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⁦Row Store⁩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(اسکن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کامل):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۷.۲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⁦GB⁩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خوانده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می‌شود؛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حالی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کوئری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فقط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یک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ستون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نیاز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دارد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۹۰٪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بی‌فایده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 Row Store (B-tree index روی Country): ≈ ۳۶۰ MB + overhead دسترسی تصادفی و cache miss.</a:t>
            </a:r>
          </a:p>
          <a:p>
            <a:pPr algn="r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 Column Store: فقط Country (≈100 MB) + Amount (≈800 MB) = ≈ ۹۰۰ MB — داده فشرده و sequential.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نتیجه: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⁦Column Store⁩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حدود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۸×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بسیار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⁦CPU-friendly⁩</a:t>
            </a:r>
            <a:r>
              <a:rPr sz="1200" b="0">
                <a:solidFill>
                  <a:srgbClr val="282828"/>
                </a:solidFill>
                <a:latin typeface="Vazir"/>
              </a:rPr>
              <a:t>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دلیل: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اسکن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⁦sequential⁩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ستونی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+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فشرده‌سازی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+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⁦vectorized.⁩</a:t>
            </a:r>
          </a:p>
        </p:txBody>
      </p:sp>
      <p:pic>
        <p:nvPicPr>
          <p:cNvPr id="5" name="Picture 4" descr="row_v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97280"/>
            <a:ext cx="4480560" cy="27185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۱۸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نمودار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مقایسه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⁦I/O⁩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w_v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۴: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حجم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داده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خوانده‌شده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—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⁦Row Store⁩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برابر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⁦Column Store⁩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۱۹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۱۹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پردازش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موازی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⁦(Parallel Processing)⁩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023360" cy="548640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⁦SAP HANA⁩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⁦multi-core CPU⁩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⁦distributed nodes⁩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توزیع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بار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می‌کند.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یک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کوئری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بزرگ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⁦subtask⁩</a:t>
            </a:r>
            <a:r>
              <a:rPr sz="1200" b="0">
                <a:solidFill>
                  <a:srgbClr val="282828"/>
                </a:solidFill>
                <a:latin typeface="Vazir"/>
              </a:rPr>
              <a:t>های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کوچک‌تر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تقسیم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و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همزمان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اجرا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می‌شود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مثلاً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هر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⁦region⁩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روی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یک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⁦core.⁩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⁦Parallel column scans:⁩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۵–۱۶×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اسکن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تک‌رشته‌ای.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⁦Parallel aggregation:⁩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۴–۱۲×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⁦SUM/COUNT⁩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روی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⁦partition⁩</a:t>
            </a:r>
            <a:r>
              <a:rPr sz="1200" b="0">
                <a:solidFill>
                  <a:srgbClr val="282828"/>
                </a:solidFill>
                <a:latin typeface="Vazir"/>
              </a:rPr>
              <a:t>های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موازی.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⁦Parallel join:⁩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۳–۱۰×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⁦hash/merge join⁩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موازی.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⁦CPU utilization:⁩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بهبود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۶۰–۹۰٪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—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⁦runtime⁩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از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دقیقه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به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ثانیه.</a:t>
            </a:r>
          </a:p>
          <a:p>
            <a:pPr algn="r" a:rtl="1">
              <a:spcAft>
                <a:spcPts val="500"/>
              </a:spcAft>
            </a:pPr>
            <a:r>
              <a:rPr sz="1200" b="0">
                <a:solidFill>
                  <a:srgbClr val="282828"/>
                </a:solidFill>
                <a:latin typeface="Vazir"/>
              </a:rPr>
              <a:t>•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شکل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۹: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نمودار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مزایای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موازی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در</a:t>
            </a:r>
            <a:r>
              <a:rPr sz="1200" b="0">
                <a:solidFill>
                  <a:srgbClr val="282828"/>
                </a:solidFill>
                <a:latin typeface="Vazir"/>
              </a:rPr>
              <a:t> </a:t>
            </a:r>
            <a:r>
              <a:rPr sz="1200" b="0">
                <a:solidFill>
                  <a:srgbClr val="282828"/>
                </a:solidFill>
                <a:latin typeface="Vazir"/>
              </a:rPr>
              <a:t>⁦HANA⁩</a:t>
            </a:r>
          </a:p>
        </p:txBody>
      </p:sp>
      <p:pic>
        <p:nvPicPr>
          <p:cNvPr id="5" name="Picture 4" descr="parallel_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4297680" cy="2366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۲۰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⁦HTAP:⁩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ترکیب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⁦OLTP⁩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و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⁦OLAP⁩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ta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۵: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مقایسه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⁦ECC⁩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سنتی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و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⁦SAP HANA⁩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بارهای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ترکیبی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۲۱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۲۱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جدول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۲: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⁦HTAP⁩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—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⁦ECC⁩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در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برابر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⁦S/4HANA⁩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⁦ECC⁩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سنتی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SAP HANA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گزارش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عملیاتی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تأخیر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ساعتی/روزانه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۰–۱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ثانیه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تا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۱۰۰۰×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ETL/Batch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شبانه/ساعتی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حذف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کامل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۱۰۰٪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کوئری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تحلیلی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۱۰–۳۰۰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ثانیه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۰.۱–۱.۵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ثانیه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۲۰–۲۰۰×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Dashboard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بعد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از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⁦ETL⁩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بلادرنگ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فوری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پیچیدگی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ECC+BW+ETL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یک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⁦HANA⁩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۴۰–۶۰٪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کمتر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sz="2400" b="1">
                <a:solidFill>
                  <a:srgbClr val="003366"/>
                </a:solidFill>
                <a:latin typeface="Vazir"/>
              </a:rPr>
              <a:t>HTAP / Translytical Processing (توضیحات)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سیستم‌های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قدیمی: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⁦OLTP⁩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(تراکنش)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⁦OLAP⁩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(تحلیل)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جدا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شبانه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⁦BW⁩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منتقل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می‌شد.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نتیجه: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⁦dashboard⁩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همیشه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دیروز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نشان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می‌داد،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وضعیت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لحظه‌ای.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پلتفرم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⁦in-memory⁩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می‌کند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⁦Translytical Processing.⁩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مثال: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ثبت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سفارش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فروش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⁦(OLTP)⁩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مدیر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بلافاصله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گزارش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موجودی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⁦(OLAP)⁩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می‌بیند.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⁦ETL⁩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حذف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می‌شود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⁦latency⁩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ساده‌سازی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⁦landscape⁩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هزینه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عملیاتی.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۲۳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azir"/>
              </a:rPr>
              <a:t>۵. Push-Down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۲۴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۲۴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پردازش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⁦Push-Down⁩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ushdow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۶: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جریان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داده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روش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سنتی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برابر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⁦Push-Down⁩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۲۵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پردازش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⁦Push-Down⁩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—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توضیحات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کامل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سنتی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⁦SAP:⁩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منطق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کسب‌وکار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⁦Application Server⁩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⁦(ABAP)⁩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اجرا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می‌شد.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⁦store/retrieve⁩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می‌کرد.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مشکل: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⁦SELECT⁩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*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انتقال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میلیون‌ها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سطر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⁦App Server⁩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⁦LOOP AT⁩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⁦SELECT SINGLE⁩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شبکه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⁦CPU⁩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بالا.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⁦Push-Down:⁩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منطق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⁦DB⁩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«فرو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رانده»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می‌شود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⁦HANA join⁩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⁦aggregate⁩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⁦filter⁩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⁦RAM⁩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انجام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نتیجه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نهایی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⁦(مثلاً یک سطر SUM)⁩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⁦App Server⁩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برمی‌گردد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۸۰–۹۵٪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⁦transfer.⁩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پیاده‌سازی: CDS Views، AMDP (ABAP Managed DB Procedures)، SQL Script.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به‌عنوان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⁦columnar + parallel engine⁩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محاسبات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بسیار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⁦ABAP loop⁩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انجام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۲۶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طراحی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کوئری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⁦(Query Design)⁩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—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بهترین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شیوه‌ها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به‌جای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⁦ABAP Loop⁩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⁦CDS View⁩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⁦set-based logic⁩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CDS Views لایه‌بندی: Interface (I_) برای raw data، Composite (C_) برای join/enrichment، Consumption (Z_/Y_) برای Fiori/OData.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فیلتر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زود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اعمال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⁦WHERE⁩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قبل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⁦HAVING⁩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قبل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⁦join.⁩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Window Functions: ROW_NUMBER، RANK، LEAD، LAG — محاسبات analytical بدون GROUP BY.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⁦Associations⁩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به‌جای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مستقیم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خوانایی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⁦filter pushdown⁩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بهتر.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Clean Core: namespace Z/Y، Extension Views، Adapt before Build — سازگاری با upgrade.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۲۷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مزایای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بهینه‌سازی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کوئری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ery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200" b="0">
                <a:solidFill>
                  <a:srgbClr val="5A5A5A"/>
                </a:solidFill>
                <a:latin typeface="Vazir"/>
              </a:rPr>
              <a:t>شکل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۷: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بهبود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سرعت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با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⁦Push-Down⁩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در</a:t>
            </a:r>
            <a:r>
              <a:rPr sz="1200" b="0">
                <a:solidFill>
                  <a:srgbClr val="5A5A5A"/>
                </a:solidFill>
                <a:latin typeface="Vazir"/>
              </a:rPr>
              <a:t> </a:t>
            </a:r>
            <a:r>
              <a:rPr sz="1200" b="0">
                <a:solidFill>
                  <a:srgbClr val="5A5A5A"/>
                </a:solidFill>
                <a:latin typeface="Vazir"/>
              </a:rPr>
              <a:t>⁦HANA⁩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۲۸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جدول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۳: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بهینه‌سازی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کوئری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ECC / ABAP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HANA Push-Down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انتقال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داده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داده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خام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زیاد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فقط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نتیجه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۸۰–۹۵٪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Loop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App Server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Vectorized HANA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۱۰–۵۰×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Aggregate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Loop ABAP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Columnar RAM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۲۰–۶۰×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Join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SELECT SINGLE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Parallel join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۵–۳۰×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Filter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Boolean loop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ValueID pushdown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۵–۲۰×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۲۹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۲۹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ایندکس‌گذاری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⁦(Indexing)⁩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—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انواع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و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کاربرد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Dictionary encoding در column store خود یک index سبک است — ValueID-based filtering.</a:t>
            </a:r>
          </a:p>
          <a:p>
            <a:pPr algn="r" a:rtl="1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⁦Inverted Index:⁩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نگاشت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⁦ValueID⁩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→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⁦Row IDs⁩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—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جستجوی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سریع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مقادیر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⁦(مثلاً Artist = Lady Gaga → rows 2,6)⁩</a:t>
            </a:r>
            <a:r>
              <a:rPr sz="1300" b="0">
                <a:solidFill>
                  <a:srgbClr val="282828"/>
                </a:solidFill>
                <a:latin typeface="Vazir"/>
              </a:rPr>
              <a:t>.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Full-Text Index: جستجوی متنی — حذف stop words و inverted index برای terms.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Multi-Column Index: dictionary ترکیبی برای چند ستون (Region + Product).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Inverted Value: سریع‌ترین read/join — PK و unique constraints.</a:t>
            </a:r>
          </a:p>
          <a:p>
            <a:pPr algn="r" a:rtl="1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⁦Inverted Hash:⁩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≈۳۰٪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کمتر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⁦RAM⁩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—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⁦PK⁩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با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ستون‌های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بلند.</a:t>
            </a:r>
          </a:p>
          <a:p>
            <a:pPr algn="r" a:rtl="1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⁦Inverted Individual: DML⁩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سریع‌تر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—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⁦read⁩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کمی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کندتر</a:t>
            </a:r>
            <a:r>
              <a:rPr sz="1300" b="0">
                <a:solidFill>
                  <a:srgbClr val="282828"/>
                </a:solidFill>
                <a:latin typeface="Vazir"/>
              </a:rPr>
              <a:t> </a:t>
            </a:r>
            <a:r>
              <a:rPr sz="1300" b="0">
                <a:solidFill>
                  <a:srgbClr val="282828"/>
                </a:solidFill>
                <a:latin typeface="Vazir"/>
              </a:rPr>
              <a:t>(۱۰–۲۰٪).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۳۰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بهترین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شیوه‌های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⁦Index⁩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⁦Composite key:⁩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ستون‌های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⁦selective⁩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(بیشترین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تمایز)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اول،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سپس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⁦equality⁩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سپس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⁦range/sort.⁩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 columns:⁩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ترتیب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⁦data type⁩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یکسان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طرف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مثلاً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⁦(BUKRS, BELNR)⁩</a:t>
            </a:r>
            <a:r>
              <a:rPr sz="1400" b="0">
                <a:solidFill>
                  <a:srgbClr val="282828"/>
                </a:solidFill>
                <a:latin typeface="Vazir"/>
              </a:rPr>
              <a:t>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ستون‌های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⁦low-selectivity⁩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⁦(Boolean، status با ۲–۳ مقدار)⁩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خودداری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⁦PK/unique index⁩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همه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⁦predicates⁩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پوشش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می‌دهد،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⁦secondary index⁩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اضافه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نکنید.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برای workload تحلیلی scan-heavy: CDS logic، partitioning یا preaggregation — نه index زیاد.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⁦Expensive Statement Trace⁩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⁦PlanViz⁩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→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⁦ST05:⁩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⁦index⁩</a:t>
            </a:r>
            <a:r>
              <a:rPr sz="1400" b="0">
                <a:solidFill>
                  <a:srgbClr val="282828"/>
                </a:solidFill>
                <a:latin typeface="Vazir"/>
              </a:rPr>
              <a:t>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واقعاً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لازم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بسازید.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۳۱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انواع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پارتیشن‌بندی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rtitioning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398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Vazir"/>
              </a:rPr>
              <a:t>شکل ۸: Hash، Range و Round-Robin Partitioning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پارتیشن‌بندی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جداول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—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توضیحات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Hash: CUSTOMER_ID → hash → partition — توزیع یکنواخت، عبور از limit ۲B rows، parallel scan.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Range: FISCAL_YEAR → P2019, P2020, ... — partition pruning: فقط partition مرتبط اسکن می‌شود.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Round-Robin: row1→P1, row2→P2, ... — balance load، مناسب staging/ETL، نه key lookup.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⁦Range + Hash composite:⁩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⁦hot partitions⁩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(داده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اخیر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بیشتر)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⁦range⁩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اول،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سپس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⁦hash.⁩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مزایا: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تا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۹۵٪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کمتر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⁦data scanned⁩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۵–۲۵×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⁦parallel scan⁩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۳–۱۵×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⁦join/aggregate.⁩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۳۳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۳۳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جدول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۴: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مزایای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پارتیشن‌بندی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1348740"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ECC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SAP HANA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100" b="1">
                          <a:solidFill>
                            <a:srgbClr val="FFFFFF"/>
                          </a:solidFill>
                          <a:latin typeface="Vazir"/>
                        </a:rP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134874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Range Query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اسکن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کل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جدول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Partition pruning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تا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۹۵٪</a:t>
                      </a:r>
                    </a:p>
                  </a:txBody>
                  <a:tcPr/>
                </a:tc>
              </a:tr>
              <a:tr h="134874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Parallel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تک‌رشته‌ای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هر partition روی core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۵–۲۵×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1348740"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Join/Aggregate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کل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 </a:t>
                      </a:r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جدول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Partition-wise</a:t>
                      </a:r>
                    </a:p>
                  </a:txBody>
                  <a:tcPr/>
                </a:tc>
                <a:tc>
                  <a:txBody>
                    <a:bodyPr wrap="square" rtlCol="1"/>
                    <a:lstStyle/>
                    <a:p>
                      <a:pPr algn="ctr" a:rtl="1"/>
                      <a:r>
                        <a:rPr sz="1000" b="0">
                          <a:solidFill>
                            <a:srgbClr val="282828"/>
                          </a:solidFill>
                          <a:latin typeface="Vazir"/>
                        </a:rPr>
                        <a:t>۳–۱۵×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۳۴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FFFFFF"/>
                </a:solidFill>
                <a:latin typeface="Vazir"/>
              </a:rPr>
              <a:t>۶.</a:t>
            </a:r>
            <a:r>
              <a:rPr sz="3600" b="1">
                <a:solidFill>
                  <a:srgbClr val="FFFFFF"/>
                </a:solidFill>
                <a:latin typeface="Vazir"/>
              </a:rPr>
              <a:t> </a:t>
            </a:r>
            <a:r>
              <a:rPr sz="3600" b="1">
                <a:solidFill>
                  <a:srgbClr val="FFFFFF"/>
                </a:solidFill>
                <a:latin typeface="Vazir"/>
              </a:rPr>
              <a:t>نتیجه‌گیری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DCDCD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داده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|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سید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علی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زین</a:t>
            </a:r>
            <a:r>
              <a:rPr sz="1000" b="0">
                <a:solidFill>
                  <a:srgbClr val="DCDCDC"/>
                </a:solidFill>
                <a:latin typeface="Vazir"/>
              </a:rPr>
              <a:t> </a:t>
            </a:r>
            <a:r>
              <a:rPr sz="1000" b="0">
                <a:solidFill>
                  <a:srgbClr val="DCDCD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Vazir"/>
              </a:rPr>
              <a:t>صفحه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۳۵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از</a:t>
            </a:r>
            <a:r>
              <a:rPr sz="1100" b="1">
                <a:solidFill>
                  <a:srgbClr val="FFFFFF"/>
                </a:solidFill>
                <a:latin typeface="Vazir"/>
              </a:rPr>
              <a:t> </a:t>
            </a:r>
            <a:r>
              <a:rPr sz="1100" b="1">
                <a:solidFill>
                  <a:srgbClr val="FFFFFF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DCDCDC"/>
                </a:solidFill>
                <a:latin typeface="Vazir"/>
              </a:rPr>
              <a:t>۳۵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نتیجه‌گیری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معماری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⁦in-memory S/4HANA⁩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⁦column store⁩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⁦compression⁩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⁦parallel processing⁩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⁦HTAP⁩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پاراد</a:t>
            </a:r>
            <a:r>
              <a:rPr sz="1400" b="0">
                <a:solidFill>
                  <a:srgbClr val="282828"/>
                </a:solidFill>
                <a:latin typeface="Vazir"/>
              </a:rPr>
              <a:t>⁦igm⁩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پردازش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⁦enterprise⁩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متحول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کرده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⁦Push-down⁩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باید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به‌صورت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یکپارچه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متناسب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⁦workload⁩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طراحی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شوند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به‌صورت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جداگانه.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انتقال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محاسبات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⁦ABAP Loop⁩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⁦CDS/SQL Script:⁩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کاهش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چشمگیر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⁦runtime⁩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⁦network load⁩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⁦app server CPU.⁩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ابزارهای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⁦trace⁩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⁦(ST05، PlanViz، DBACOCKPIT)⁩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⁦performance engineering⁩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عملی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ضروری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هستند.</a:t>
            </a:r>
          </a:p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Clean-core CDS practices: سیستم upgrade-safe و cloud-ready باقی می‌ماند.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پژوهش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آینده: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سناریوهای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صنعتی،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⁦multi-tenant cloud⁩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⁦AI workloads.⁩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۳۶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توصیه‌های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عملی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برای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توسعه‌دهندگان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 Set-based programming و push-down را به ABAP loop ترجیح دهید.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⁦Indexing⁩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⁦partitioning⁩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اساس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الگوی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⁦query⁩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⁦data volume⁩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طراحی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⁦CDS Views⁩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لایه‌بندی‌شده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⁦(I_/C_/Z_)⁩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⁦Clean Core⁩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رعایت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⁦Performance engineering⁩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ابتدای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چرخه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پیاده‌سازی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بگنجانید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—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نه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فقط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انتها.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از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⁦HTAP⁩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حذف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⁦ETL⁩</a:t>
            </a:r>
            <a:r>
              <a:rPr sz="1400" b="0">
                <a:solidFill>
                  <a:srgbClr val="282828"/>
                </a:solidFill>
                <a:latin typeface="Vazir"/>
              </a:rPr>
              <a:t>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⁦dashboard⁩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بلادرنگ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⁦analytics⁩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روی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داده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عملیاتی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استفاده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کنید.</a:t>
            </a:r>
          </a:p>
          <a:p>
            <a:pPr algn="r" a:rtl="1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Vazir"/>
              </a:rPr>
              <a:t>•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⁦Expensive Statement Trace⁩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و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⁦PlanViz⁩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را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برای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شناسایی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⁦bottleneck⁩</a:t>
            </a:r>
            <a:r>
              <a:rPr sz="1400" b="0">
                <a:solidFill>
                  <a:srgbClr val="282828"/>
                </a:solidFill>
                <a:latin typeface="Vazir"/>
              </a:rPr>
              <a:t>ها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به‌کار</a:t>
            </a:r>
            <a:r>
              <a:rPr sz="1400" b="0">
                <a:solidFill>
                  <a:srgbClr val="282828"/>
                </a:solidFill>
                <a:latin typeface="Vazir"/>
              </a:rPr>
              <a:t> </a:t>
            </a:r>
            <a:r>
              <a:rPr sz="1400" b="0">
                <a:solidFill>
                  <a:srgbClr val="282828"/>
                </a:solidFill>
                <a:latin typeface="Vazir"/>
              </a:rPr>
              <a:t>ببرید.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۳۷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2400" b="1">
                <a:solidFill>
                  <a:srgbClr val="003366"/>
                </a:solidFill>
                <a:latin typeface="Vazir"/>
              </a:rPr>
              <a:t>منابع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و</a:t>
            </a:r>
            <a:r>
              <a:rPr sz="2400" b="1">
                <a:solidFill>
                  <a:srgbClr val="003366"/>
                </a:solidFill>
                <a:latin typeface="Vazir"/>
              </a:rPr>
              <a:t> </a:t>
            </a:r>
            <a:r>
              <a:rPr sz="2400" b="1">
                <a:solidFill>
                  <a:srgbClr val="003366"/>
                </a:solidFill>
                <a:latin typeface="Vazir"/>
              </a:rPr>
              <a:t>اختصارات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CDS: Core Data Services | RAM: Random Access Memory | CPU: Central Processing Unit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OLTP: Online Transaction Processing | OLAP: Online Analytical Processing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ETL: Extract, Transform, Load | HTAP: Hybrid Transactional/Analytical Processing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PK: Primary Key | AMDP: ABAP Managed Database Procedures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Raikar, T. (2025). High-Performance In-Memory Computing: A Research Study on SAP S/4 HANA Database Layer. American Journal of Technology, 4(2), 94–113.</a:t>
            </a:r>
          </a:p>
          <a:p>
            <a:pPr algn="r">
              <a:spcAft>
                <a:spcPts val="600"/>
              </a:spcAft>
            </a:pPr>
            <a:r>
              <a:rPr sz="1300" b="0">
                <a:solidFill>
                  <a:srgbClr val="282828"/>
                </a:solidFill>
                <a:latin typeface="Vazir"/>
              </a:rPr>
              <a:t>• DOI: https://doi.org/10.58425/ajt.v4i2.449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۳۸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3600" b="1">
                <a:solidFill>
                  <a:srgbClr val="003366"/>
                </a:solidFill>
                <a:latin typeface="Vazir"/>
              </a:rPr>
              <a:t>سپاس</a:t>
            </a:r>
            <a:r>
              <a:rPr sz="3600" b="1">
                <a:solidFill>
                  <a:srgbClr val="003366"/>
                </a:solidFill>
                <a:latin typeface="Vazir"/>
              </a:rPr>
              <a:t> </a:t>
            </a:r>
            <a:r>
              <a:rPr sz="3600" b="1">
                <a:solidFill>
                  <a:srgbClr val="003366"/>
                </a:solidFill>
                <a:latin typeface="Vazir"/>
              </a:rPr>
              <a:t>از</a:t>
            </a:r>
            <a:r>
              <a:rPr sz="3600" b="1">
                <a:solidFill>
                  <a:srgbClr val="003366"/>
                </a:solidFill>
                <a:latin typeface="Vazir"/>
              </a:rPr>
              <a:t> </a:t>
            </a:r>
            <a:r>
              <a:rPr sz="3600" b="1">
                <a:solidFill>
                  <a:srgbClr val="003366"/>
                </a:solidFill>
                <a:latin typeface="Vazir"/>
              </a:rPr>
              <a:t>توجه</a:t>
            </a:r>
            <a:r>
              <a:rPr sz="3600" b="1">
                <a:solidFill>
                  <a:srgbClr val="003366"/>
                </a:solidFill>
                <a:latin typeface="Vazir"/>
              </a:rPr>
              <a:t> </a:t>
            </a:r>
            <a:r>
              <a:rPr sz="3600" b="1">
                <a:solidFill>
                  <a:srgbClr val="003366"/>
                </a:solidFill>
                <a:latin typeface="Vazir"/>
              </a:rPr>
              <a:t>شما</a:t>
            </a:r>
          </a:p>
          <a:p>
            <a:pPr algn="ctr" a:rtl="1"/>
            <a:r>
              <a:rPr sz="2000" b="0">
                <a:solidFill>
                  <a:srgbClr val="006699"/>
                </a:solidFill>
                <a:latin typeface="Vazir"/>
              </a:rPr>
              <a:t>سید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علی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زین</a:t>
            </a:r>
            <a:r>
              <a:rPr sz="2000" b="0">
                <a:solidFill>
                  <a:srgbClr val="006699"/>
                </a:solidFill>
                <a:latin typeface="Vazir"/>
              </a:rPr>
              <a:t> </a:t>
            </a:r>
            <a:r>
              <a:rPr sz="2000" b="0">
                <a:solidFill>
                  <a:srgbClr val="006699"/>
                </a:solidFill>
                <a:latin typeface="Vazir"/>
              </a:rPr>
              <a:t>الدینی</a:t>
            </a:r>
          </a:p>
          <a:p>
            <a:pPr algn="ctr" a:rtl="1"/>
            <a:r>
              <a:rPr sz="2000" b="0">
                <a:solidFill>
                  <a:srgbClr val="006699"/>
                </a:solidFill>
                <a:latin typeface="Vazir"/>
              </a:rPr>
              <a:t>سوالات؟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19088"/>
            <a:ext cx="8412480" cy="13716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4114800" cy="29260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a:rtl="1"/>
            <a:r>
              <a:rPr sz="1000" b="0">
                <a:solidFill>
                  <a:srgbClr val="8C8C8C"/>
                </a:solidFill>
                <a:latin typeface="Vazir"/>
              </a:rPr>
              <a:t>پایگاه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داده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پیشرفته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|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سید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علی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زین</a:t>
            </a:r>
            <a:r>
              <a:rPr sz="1000" b="0">
                <a:solidFill>
                  <a:srgbClr val="8C8C8C"/>
                </a:solidFill>
                <a:latin typeface="Vazir"/>
              </a:rPr>
              <a:t> </a:t>
            </a:r>
            <a:r>
              <a:rPr sz="1000" b="0">
                <a:solidFill>
                  <a:srgbClr val="8C8C8C"/>
                </a:solidFill>
                <a:latin typeface="Vazir"/>
              </a:rPr>
              <a:t>الدینی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6446520"/>
            <a:ext cx="1828800" cy="32004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 a:rtl="1"/>
            <a:r>
              <a:rPr sz="1100" b="1">
                <a:solidFill>
                  <a:srgbClr val="6E6E6E"/>
                </a:solidFill>
                <a:latin typeface="Vazir"/>
              </a:rPr>
              <a:t>صفحه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از</a:t>
            </a:r>
            <a:r>
              <a:rPr sz="1100" b="1">
                <a:solidFill>
                  <a:srgbClr val="6E6E6E"/>
                </a:solidFill>
                <a:latin typeface="Vazir"/>
              </a:rPr>
              <a:t> </a:t>
            </a:r>
            <a:r>
              <a:rPr sz="1100" b="1">
                <a:solidFill>
                  <a:srgbClr val="6E6E6E"/>
                </a:solidFill>
                <a:latin typeface="Vazir"/>
              </a:rPr>
              <a:t>۳۹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7395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a:rtl="1"/>
            <a:r>
              <a:rPr sz="1000" b="0">
                <a:solidFill>
                  <a:srgbClr val="8C8C8C"/>
                </a:solidFill>
                <a:latin typeface="Vazir"/>
              </a:rPr>
              <a:t>۳۹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