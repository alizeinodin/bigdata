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400" b="1">
                <a:solidFill>
                  <a:srgbClr val="003366"/>
                </a:solidFill>
                <a:latin typeface="Vazir"/>
              </a:defRPr>
            </a:pPr>
            <a:r>
              <a:t>محاسبات درون‌حافظه‌ای با کارایی بالا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2000" b="0">
                <a:solidFill>
                  <a:srgbClr val="006699"/>
                </a:solidFill>
                <a:latin typeface="Vazir"/>
              </a:defRPr>
            </a:pPr>
            <a:r>
              <a:t>بررسی پژوهشی لایه پایگاه‌داده SAP S/4HANA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1800" b="1">
                <a:solidFill>
                  <a:srgbClr val="003366"/>
                </a:solidFill>
                <a:latin typeface="Vazir"/>
              </a:defRPr>
            </a:pPr>
            <a:r>
              <a:t>ارائه‌دهنده: سید علی زین الدینی</a:t>
            </a:r>
          </a:p>
          <a:p>
            <a:pPr algn="ctr" a:rtl="1">
              <a:spcAft>
                <a:spcPts val="600"/>
              </a:spcAft>
              <a:defRPr sz="1800" b="1">
                <a:solidFill>
                  <a:srgbClr val="003366"/>
                </a:solidFill>
                <a:latin typeface="Vazir"/>
              </a:defRPr>
            </a:pPr>
            <a:r>
              <a:t>استاد درس: دکتر صادق زاده</a:t>
            </a:r>
          </a:p>
          <a:p>
            <a:pPr algn="ctr" a:rtl="1">
              <a:spcAft>
                <a:spcPts val="600"/>
              </a:spcAft>
              <a:defRPr sz="1800" b="1">
                <a:solidFill>
                  <a:srgbClr val="003366"/>
                </a:solidFill>
                <a:latin typeface="Vazir"/>
              </a:defRPr>
            </a:pPr>
            <a:r>
              <a:t>نام درس: پایگاه داده پیشرفته</a:t>
            </a:r>
          </a:p>
          <a:p>
            <a:pPr algn="ct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</a:p>
          <a:p>
            <a:pPr algn="ct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منبع: Raikar, T. (2025) — American Journal of Technology</a:t>
            </a:r>
          </a:p>
          <a:p>
            <a:pPr algn="ct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DOI: 10.58425/ajt.v4i2.449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چکیده مقاله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هدف پژوهش: بررسی چگونگی دستیابی SAP S/4HANA به سرعت پردازش فوق‌العاده از طریق معماری درون‌حافظه‌ای و تحلیل لایه پایگاه‌داده HANA که منبع اصلی چالش‌های کارایی در سیستم‌های SAP است.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روش کار: مطالعه مستندات SAP HANA و S/4HANA، اجرای کوئری‌های SQL، CDS Views و SQL Script روی سیستم واقعی، و تحلیل با ابزارهای ST05، ST12، SAT، DBACOCKPIT و PlanViz.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یافته‌های کلیدی: ذخیره‌سازی ستونی، فشرده‌سازی Dictionary/Vector، پردازش Set-based، ایندکس‌گذاری پیشرفته و پارتیشن‌بندی، هرکدام به‌طور جداگانه و در کنار هم کارایی، مقیاس‌پذیری و تحلیل بلادرنگ را به‌شدت افزایش می‌دهند.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نتیجه کلی: ترکیب طراحی درون‌حافظه‌ای با بهینه‌سازی‌های آگاهانه در لایه پایگاه‌داده، پایه و اساس پردازش بلادرنگ و تراکنش‌های زیر یک ثانیه در S/4HANA است.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توصیه: توسعه‌دهندگان باید برنامه‌نویسی Set-based، ایندکس‌گذاری مناسب و پارتیشن‌بندی هوشمند را در اولویت قرار دهند و محاسبات را تا حد ممکن در لایه DB اجرا کنند.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کلمات کلیدی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500" b="0">
                <a:solidFill>
                  <a:srgbClr val="282828"/>
                </a:solidFill>
                <a:latin typeface="Vazir"/>
              </a:defRPr>
            </a:pPr>
            <a:r>
              <a:t>• SAP S/4HANA — نسل جدید ERP ساپ با موتور HANA</a:t>
            </a:r>
          </a:p>
          <a:p>
            <a:pPr algn="r" a:rtl="1">
              <a:spcAft>
                <a:spcPts val="600"/>
              </a:spcAft>
              <a:defRPr sz="1500" b="0">
                <a:solidFill>
                  <a:srgbClr val="282828"/>
                </a:solidFill>
                <a:latin typeface="Vazir"/>
              </a:defRPr>
            </a:pPr>
            <a:r>
              <a:t>• In-Memory Computing — نگهداری و پردازش داده در RAM به‌جای دیسک</a:t>
            </a:r>
          </a:p>
          <a:p>
            <a:pPr algn="r" a:rtl="1">
              <a:spcAft>
                <a:spcPts val="600"/>
              </a:spcAft>
              <a:defRPr sz="1500" b="0">
                <a:solidFill>
                  <a:srgbClr val="282828"/>
                </a:solidFill>
                <a:latin typeface="Vazir"/>
              </a:defRPr>
            </a:pPr>
            <a:r>
              <a:t>• Columnar Storage — ذخیره‌سازی ستونی برای کوئری‌های تحلیلی</a:t>
            </a:r>
          </a:p>
          <a:p>
            <a:pPr algn="r" a:rtl="1">
              <a:spcAft>
                <a:spcPts val="600"/>
              </a:spcAft>
              <a:defRPr sz="1500" b="0">
                <a:solidFill>
                  <a:srgbClr val="282828"/>
                </a:solidFill>
                <a:latin typeface="Vazir"/>
              </a:defRPr>
            </a:pPr>
            <a:r>
              <a:t>• Real-time Analytics — تحلیل بلادرنگ بدون تأخیر ETL</a:t>
            </a:r>
          </a:p>
          <a:p>
            <a:pPr algn="r" a:rtl="1">
              <a:spcAft>
                <a:spcPts val="600"/>
              </a:spcAft>
              <a:defRPr sz="1500" b="0">
                <a:solidFill>
                  <a:srgbClr val="282828"/>
                </a:solidFill>
                <a:latin typeface="Vazir"/>
              </a:defRPr>
            </a:pPr>
            <a:r>
              <a:t>• Set-based Processing — پردازش مجموعه‌ای به‌جای حلقه‌های تک‌سطری</a:t>
            </a:r>
          </a:p>
          <a:p>
            <a:pPr algn="r" a:rtl="1">
              <a:spcAft>
                <a:spcPts val="600"/>
              </a:spcAft>
              <a:defRPr sz="1500" b="0">
                <a:solidFill>
                  <a:srgbClr val="282828"/>
                </a:solidFill>
                <a:latin typeface="Vazir"/>
              </a:defRPr>
            </a:pPr>
            <a:r>
              <a:t>• Push-down Processing — انتقال منطق محاسباتی به لایه پایگاه‌داده</a:t>
            </a:r>
          </a:p>
          <a:p>
            <a:pPr algn="r" a:rtl="1">
              <a:spcAft>
                <a:spcPts val="600"/>
              </a:spcAft>
              <a:defRPr sz="1500" b="0">
                <a:solidFill>
                  <a:srgbClr val="282828"/>
                </a:solidFill>
                <a:latin typeface="Vazir"/>
              </a:defRPr>
            </a:pPr>
            <a:r>
              <a:t>• Parallel Processing &amp; Table Partitioning — پردازش و توزیع موازی داده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FFFFFF"/>
                </a:solidFill>
                <a:latin typeface="Vazir"/>
              </a:defRPr>
            </a:pPr>
            <a:r>
              <a:t>۱. مقدمه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FFFFFF"/>
                </a:solidFill>
                <a:latin typeface="Vazir"/>
              </a:defRPr>
            </a:pPr>
            <a:r>
              <a:t>صفحه 4 از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چرا لایه پایگاه‌داده مهم است؟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5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کارایی SAP S/4HANA تحت تأثیر سه لایه وابسته است: پایگاه‌داده، لایه کاربرد (Application) و زیرساخت سخت‌افزاری. بهینه‌سازی هر لایه برای دستیابی به کارایی پایدار ضروری است.</a:t>
            </a:r>
          </a:p>
          <a:p>
            <a:pPr algn="r" a:rtl="1">
              <a:spcAft>
                <a:spcPts val="5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در پایگاه‌داده‌های سنتی مبتنی بر دیسک، هر کوئری باید داده را از storage فیزیکی بخواند که تأخیر I/O ایجاد می‌کند. این موضوع در سیستم‌هایی با هزاران کاربر همزمان به‌شدت محسوس می‌شود.</a:t>
            </a:r>
          </a:p>
          <a:p>
            <a:pPr algn="r" a:rtl="1">
              <a:spcAft>
                <a:spcPts val="5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S/4HANA کل جداول، ایندکس‌ها و نتایج میانی را در RAM نگه می‌دارد. نوشتن روی دیسک فقط برای persistence، backup و recovery انجام می‌شود.</a:t>
            </a:r>
          </a:p>
          <a:p>
            <a:pPr algn="r" a:rtl="1">
              <a:spcAft>
                <a:spcPts val="5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دسترسی به داده در میکروثانیه (به‌جای میلی‌ثانیه) تحول بنیادینی ایجاد می‌کند: تراکنش‌های زیر یک ثانیه، dashboard بلادرنگ و تحلیل روی داده عملیاتی.</a:t>
            </a:r>
          </a:p>
          <a:p>
            <a:pPr algn="r" a:rtl="1">
              <a:spcAft>
                <a:spcPts val="5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معماری HTAP (Hybrid OLTP+OLAP) امکان اجرای همزمان تراکنش و تحلیل را بدون نیاز به ETL شبانه فراهم می‌کند.</a:t>
            </a:r>
          </a:p>
        </p:txBody>
      </p:sp>
      <p:pic>
        <p:nvPicPr>
          <p:cNvPr id="5" name="Picture 4" descr="architectur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24522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5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معماری SAP S/4HANA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4795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200" b="0">
                <a:solidFill>
                  <a:srgbClr val="5A5A5A"/>
                </a:solidFill>
                <a:latin typeface="Vazir"/>
              </a:defRPr>
            </a:pPr>
            <a:r>
              <a:t>شکل ۱: لایه‌های اصلی معماری In-Memory SAP S/4HANA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6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اجزای کلیدی معماری (توضیحات)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Connection &amp; Session Management: مدیریت اتصال کاربران و نشست‌ها — نقطه ورود تمام درخواست‌ها به سیستم.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Authorization Manager: کنترل دسترسی — فقط کاربران مجاز می‌توانند داده را ببینند یا تغییر دهند.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Calculation Engine: دریافت کوئری‌های SQL، SQL Script و MDX و انجام محاسبات.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Optimizer &amp; Plan Generator: یافتن سریع‌ترین plan اجرا با تحلیل cost-based.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In-Memory Processing Engines: Column/Row Engine (جداول)، Graph Engine (شبکه/سلسله‌مراتب)، Text Engine (جستجوی متنی).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Transaction Manager: تضمین ACID و consistency در بار همزمان.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Persistence Layer: logging، recovery و ذخیره‌سازی پایدار برای جلوگیری از از دست رفتن داده.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7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FFFFFF"/>
                </a:solidFill>
                <a:latin typeface="Vazir"/>
              </a:defRPr>
            </a:pPr>
            <a:r>
              <a:t>۲. مرور ادبیات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FFFFFF"/>
                </a:solidFill>
                <a:latin typeface="Vazir"/>
              </a:defRPr>
            </a:pPr>
            <a:r>
              <a:t>صفحه 8 از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پژوهش‌های پیشین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Zhang Mei (2024): تأکید بر استفاده از مدل درون‌حافظه HANA برای تحلیل بلادرنگ، بهینه‌سازی مدل داده و کاهش افزونگی — نه فقط scale کردن سخت‌افزار.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IRJMETS (2022/2025): تکنیک‌های partition pruning، push-down projection، data tiering و workload-aware tuning برای کاهش مصرف حافظه و runtime.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Müller et al. (2015): بهینه‌سازی join با aggregate cache و object-awareness — بهبود چند-magnitude در کوئری‌های join-aggregate.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Plattner (2014): پایه نظری column store، compression و pushdown — بنیان‌گذار مفاهیم In-Memory Data Management.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Jain (n.d.): بهینه‌سازی indexing و partitioning برای workloadهای حجیم.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9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شکاف‌های پژوهشی و نوآوری این مقاله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ادبیات موجود بیشتر ویژگی‌های HANA را توضیح می‌دهد اما معیارهای runtime واقعی در S/4HANA را کمتر گزارش کرده است.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تأثیر indexing و partitioning روی workloadهای مختلف (OLTP، OLAP، mixed) به‌طور کمی بررسی نشده.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ابزارهای SAP مانند ST05، PlanViz و DBACOCKPIT در پژوهش‌ها کمتر استفاده شده‌اند.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چارچوب یکپارچه‌ای برای تعامل query design، compression، indexing و partitioning وجود ندارد.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این مقاله با رویکرد عملی (hands-on) و استفاده از ابزارهای trace، این شکاف‌ها را پر می‌کند و یک framework یکپارچه ارائه می‌دهد.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10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FFFFFF"/>
                </a:solidFill>
                <a:latin typeface="Vazir"/>
              </a:defRPr>
            </a:pPr>
            <a:r>
              <a:t>۳. روش‌شناسی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FFFFFF"/>
                </a:solidFill>
                <a:latin typeface="Vazir"/>
              </a:defRPr>
            </a:pPr>
            <a:r>
              <a:t>صفحه 11 از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روش پژوهش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مبانی نظری: مستندات SAP HANA، راهنمای توسعه S/4HANA و ادبیات HTAP و in-memory databases.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آزمایش عملی: اجرای SQL queries، CDS Views و SQL Script procedures روی SAP HANA با datasetهای کنترل‌شده.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مقایسه: منطق ABAP مبتنی بر LOOP AT ... ENDLOOP در برابر اجرای Set-based و push-down در DB.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ابزارهای تحلیل: ST05 (SQL trace)، ST12 (ABAP+DB trace)، SAT (runtime analysis)، DBACOCKPIT (DB monitoring)، PlanViz (execution plan visualization).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معیارها: execution plan، CPU usage، scan volume، memory usage، push-down efficiency و parallel processing behavior.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هدف: درک اینکه چگونه storage structures، compression، indexing و partitioning روی runtime تأثیر می‌گذارند.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12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FFFFFF"/>
                </a:solidFill>
                <a:latin typeface="Vazir"/>
              </a:defRPr>
            </a:pPr>
            <a:r>
              <a:t>۴. اصول مدیریت داده درون‌حافظه‌ای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FFFFFF"/>
                </a:solidFill>
                <a:latin typeface="Vazir"/>
              </a:defRPr>
            </a:pPr>
            <a:r>
              <a:t>صفحه 13 از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ذخیره‌سازی ستونی (Column Store)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4023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در Row Store داده‌ها سطر به سطر ذخیره می‌شوند؛ در Column Store هر ستون جداگانه در حافظه قرار می‌گیرد.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مزیت اصلی: کوئری فقط ستون‌های مورد نیاز را می‌خواند — کاهش چشمگیر I/O و CPU.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Dictionary Encoding: مقادیر یکتا (distinct) در جدول lookup نگهداری می‌شوند؛ مقادیر تکراری ذخیره نمی‌شوند.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Vector Encoding: به‌جای مقدار خام، ValueID (اشاره‌گر به dictionary) ذخیره می‌شود.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این دو تکنیک هم فشرده‌سازی و هم سرعت lookup را بهبود می‌دهند.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برای کوئری‌های SELECT SUM، GROUP BY و فیلتر روی ستون‌های محدود، Column Store به‌شدت برتر است.</a:t>
            </a:r>
          </a:p>
        </p:txBody>
      </p:sp>
      <p:pic>
        <p:nvPicPr>
          <p:cNvPr id="5" name="Picture 4" descr="dictionary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297680" cy="21271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14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فشرده‌سازی Dictionary و 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ctionary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3982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200" b="0">
                <a:solidFill>
                  <a:srgbClr val="5A5A5A"/>
                </a:solidFill>
                <a:latin typeface="Vazir"/>
              </a:defRPr>
            </a:pPr>
            <a:r>
              <a:t>شکل ۲: نحوه فشرده‌سازی ستون Amount با Dictionary و 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15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مزایای ذخیره‌سازی ستونی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umn_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48896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200" b="0">
                <a:solidFill>
                  <a:srgbClr val="5A5A5A"/>
                </a:solidFill>
                <a:latin typeface="Vazir"/>
              </a:defRPr>
            </a:pPr>
            <a:r>
              <a:t>شکل ۳: مقایسه بهبود سرعت تکنیک‌های Column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16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جدول ۱: مزایای Column Store (از مقاله)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770708"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بهینه‌سازی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بهبود سرعت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Column Store — داده اسکن‌شده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۸۰–۹۵٪ کاهش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Dictionary Encoding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۳× سریع‌تر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Vector 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۳–۶× سریع‌تر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فشرده‌سازی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۳–۱۰× کوچک‌تر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SUM/Aggregation Pushdown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۶۰–۸۰٪ سریع‌تر</a:t>
                      </a:r>
                    </a:p>
                  </a:txBody>
                  <a:tcPr/>
                </a:tc>
              </a:tr>
              <a:tr h="770712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Parallel Column Scans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۵–۱۶× سریع‌تر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17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مقایسه Row Store و Column 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سناریو: جدول ORDERS با ۱۰۰ میلیون سطر — کوئری SUM(Amount) WHERE Country='IN'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Row Store (اسکن کامل): ≈ ۷.۲ GB خوانده می‌شود؛ در حالی که کوئری فقط به یک ستون نیاز دارد — ۹۰٪ داده بی‌فایده است.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Row Store (B-tree index روی Country): ≈ ۳۶۰ MB + overhead دسترسی تصادفی و cache miss.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Column Store: فقط Country (≈100 MB) + Amount (≈800 MB) = ≈ ۹۰۰ MB — داده فشرده و sequential.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نتیجه: Column Store حدود ۸× سریع‌تر و بسیار CPU-friendlyتر است.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دلیل: اسکن sequential ستونی + فشرده‌سازی + پردازش vectorized.</a:t>
            </a:r>
          </a:p>
        </p:txBody>
      </p:sp>
      <p:pic>
        <p:nvPicPr>
          <p:cNvPr id="5" name="Picture 4" descr="row_vs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480560" cy="27185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18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نمودار مقایسه I/O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w_vs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4882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200" b="0">
                <a:solidFill>
                  <a:srgbClr val="5A5A5A"/>
                </a:solidFill>
                <a:latin typeface="Vazir"/>
              </a:defRPr>
            </a:pPr>
            <a:r>
              <a:t>شکل ۴: حجم داده خوانده‌شده — Row Store در برابر Column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19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پردازش موازی (Parallel Processing)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4023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SAP HANA از multi-core CPU و distributed nodes برای توزیع بار استفاده می‌کند.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یک کوئری بزرگ به subtaskهای کوچک‌تر تقسیم و همزمان اجرا می‌شود — مثلاً هر region روی یک core.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Parallel column scans: ۵–۱۶× سریع‌تر از اسکن تک‌رشته‌ای.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Parallel aggregation: ۴–۱۲× سریع‌تر — SUM/COUNT روی partitionهای موازی.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Parallel join: ۳–۱۰× سریع‌تر — hash/merge join موازی.</a:t>
            </a:r>
          </a:p>
          <a:p>
            <a:pPr algn="r" a:rtl="1">
              <a:spcAft>
                <a:spcPts val="500"/>
              </a:spcAft>
              <a:defRPr sz="1200" b="0">
                <a:solidFill>
                  <a:srgbClr val="282828"/>
                </a:solidFill>
                <a:latin typeface="Vazir"/>
              </a:defRPr>
            </a:pPr>
            <a:r>
              <a:t>• CPU utilization: بهبود ۶۰–۹۰٪ — runtime از دقیقه به ثانیه.</a:t>
            </a:r>
          </a:p>
        </p:txBody>
      </p:sp>
      <p:pic>
        <p:nvPicPr>
          <p:cNvPr id="5" name="Picture 4" descr="parallel_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297680" cy="2366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20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HTAP: ترکیب OLTP و OLAP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ta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4882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200" b="0">
                <a:solidFill>
                  <a:srgbClr val="5A5A5A"/>
                </a:solidFill>
                <a:latin typeface="Vazir"/>
              </a:defRPr>
            </a:pPr>
            <a:r>
              <a:t>شکل ۵: مقایسه ECC سنتی و SAP HANA در بارهای ترکیبی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21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جدول ۲: HTAP — ECC در برابر S/4HANA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899160"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حوزه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ECC سنتی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SAP HANA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بهبود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گزارش عملیاتی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تأخیر ساعتی/روزانه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۰–۱ 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تا ۱۰۰۰×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ETL/Batch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شبانه/ساعتی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حذف کامل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۱۰۰٪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کوئری تحلیلی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۱۰–۳۰۰ 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۰.۱–۱.۵ 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۲۰–۲۰۰×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بعد از ETL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بلادرنگ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فوری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پیچیدگی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ECC+BW+ETL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یک HANA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۴۰–۶۰٪ کمتر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22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HTAP / Translytical Processing (توضیحات)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در سیستم‌های قدیمی: OLTP (تراکنش) و OLAP (تحلیل) روی دو DB جدا — داده شبانه به BW منتقل می‌شد.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نتیجه: dashboard همیشه دیروز را نشان می‌داد، نه وضعیت لحظه‌ای.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S/4HANA هر دو را روی یک پلتفرم in-memory اجرا می‌کند — Translytical Processing.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مثال: با ثبت سفارش فروش (OLTP)، مدیر بلافاصله گزارش سود و موجودی (OLAP) را می‌بیند.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ETL حذف می‌شود → کاهش latency، ساده‌سازی landscape و هزینه عملیاتی.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23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FFFFFF"/>
                </a:solidFill>
                <a:latin typeface="Vazir"/>
              </a:defRPr>
            </a:pPr>
            <a:r>
              <a:t>۵. Push-Down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FFFFFF"/>
                </a:solidFill>
                <a:latin typeface="Vazir"/>
              </a:defRPr>
            </a:pPr>
            <a:r>
              <a:t>صفحه 24 از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پردازش Push-Down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ushdow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200" b="0">
                <a:solidFill>
                  <a:srgbClr val="5A5A5A"/>
                </a:solidFill>
                <a:latin typeface="Vazir"/>
              </a:defRPr>
            </a:pPr>
            <a:r>
              <a:t>شکل ۶: جریان داده در روش سنتی در برابر Push-Down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25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پردازش Push-Down — توضیحات کامل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روش سنتی SAP: منطق کسب‌وکار در Application Server (ABAP) اجرا می‌شد. DB فقط store/retrieve می‌کرد.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مشکل: SELECT * → انتقال میلیون‌ها سطر به App Server → LOOP AT → SELECT SINGLE — بار شبکه و CPU بالا.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Push-Down: منطق به DB «فرو رانده» می‌شود — HANA join، aggregate و filter را در RAM انجام می‌دهد.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فقط نتیجه نهایی (مثلاً یک سطر SUM) به App Server برمی‌گردد — کاهش ۸۰–۹۵٪ transfer.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پیاده‌سازی: CDS Views، AMDP (ABAP Managed DB Procedures)، SQL Script.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HANA به‌عنوان columnar + parallel engine، محاسبات را بسیار سریع‌تر از ABAP loop انجام می‌دهد.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26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طراحی کوئری (Query Design) — بهترین شیوه‌ها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به‌جای ABAP Loop از JOIN، CDS View و set-based logic استفاده کنید.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CDS Views لایه‌بندی: Interface (I_) برای raw data، Composite (C_) برای join/enrichment، Consumption (Z_/Y_) برای Fiori/OData.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فیلتر را زود اعمال کنید: WHERE قبل از HAVING — کاهش داده قبل از join.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Window Functions: ROW_NUMBER، RANK، LEAD، LAG — محاسبات analytical بدون GROUP BY.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Associations به‌جای join مستقیم — خوانایی و filter pushdown بهتر.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Clean Core: namespace Z/Y، Extension Views، Adapt before Build — سازگاری با upgrade.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27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مزایای بهینه‌سازی کوئری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uery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4882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200" b="0">
                <a:solidFill>
                  <a:srgbClr val="5A5A5A"/>
                </a:solidFill>
                <a:latin typeface="Vazir"/>
              </a:defRPr>
            </a:pPr>
            <a:r>
              <a:t>شکل ۷: بهبود سرعت با Push-Down در HANA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28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جدول ۳: بهینه‌سازی کوئری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899160"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حوزه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ECC / ABAP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HANA Push-Down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بهبود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انتقال داده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داده خام زیاد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فقط نتیجه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۸۰–۹۵٪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Loop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App Server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Vectorized HANA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۱۰–۵۰×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Loop ABAP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Columnar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۲۰–۶۰×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Join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SELECT SINGLE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Parallel join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۵–۳۰×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Boolean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ValueID pushdown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۵–۲۰×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29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ایندکس‌گذاری (Indexing) — انواع و کاربرد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Dictionary encoding در column store خود یک index سبک است — ValueID-based filtering.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Inverted Index: نگاشت ValueID → Row IDs — جستجوی سریع مقادیر (مثلاً Artist = Lady Gaga → rows 2,6).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Full-Text Index: جستجوی متنی — حذف stop words و inverted index برای terms.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Multi-Column Index: dictionary ترکیبی برای چند ستون (Region + Product).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Inverted Value: سریع‌ترین read/join — PK و unique constraints.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Inverted Hash: ≈۳۰٪ کمتر RAM — PK با ستون‌های بلند.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Inverted Individual: DML سریع‌تر — read کمی کندتر (۱۰–۲۰٪).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30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بهترین شیوه‌های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Composite key: ستون‌های selective (بیشترین تمایز) اول، سپس equality، سپس range/sort.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Join columns: ترتیب و data type یکسان در هر دو طرف join — مثلاً (BUKRS, BELNR).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از index روی ستون‌های low-selectivity (Boolean، status با ۲–۳ مقدار) خودداری کنید.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اگر PK/unique index همه predicates را پوشش می‌دهد، secondary index اضافه نکنید.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برای workload تحلیلی scan-heavy: CDS logic، partitioning یا preaggregation — نه index زیاد.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Expensive Statement Trace → PlanViz → ST05: فقط indexهای واقعاً لازم بسازید.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31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انواع پارتیشن‌بندی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itioning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3982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200" b="0">
                <a:solidFill>
                  <a:srgbClr val="5A5A5A"/>
                </a:solidFill>
                <a:latin typeface="Vazir"/>
              </a:defRPr>
            </a:pPr>
            <a:r>
              <a:t>شکل ۸: Hash، Range و Round-Robin Partitioning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32 از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پارتیشن‌بندی جداول — توضیحات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Hash: CUSTOMER_ID → hash → partition — توزیع یکنواخت، عبور از limit ۲B rows، parallel scan.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Range: FISCAL_YEAR → P2019, P2020, ... — partition pruning: فقط partition مرتبط اسکن می‌شود.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Round-Robin: row1→P1, row2→P2, ... — balance load، مناسب staging/ETL، نه key lookup.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Range + Hash composite: برای hot partitions (داده اخیر بیشتر) — range اول، سپس hash.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مزایا: تا ۹۵٪ کمتر data scanned، ۵–۲۵× parallel scan، ۳–۱۵× join/aggregate.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33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جدول ۴: مزایای پارتیشن‌بندی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348740"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حوزه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ECC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SAP HANA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100" b="1">
                          <a:solidFill>
                            <a:srgbClr val="FFFFFF"/>
                          </a:solidFill>
                          <a:latin typeface="Vazir"/>
                        </a:defRPr>
                      </a:pPr>
                      <a:r>
                        <a:t>بهبود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Range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اسکن کل جدول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Partition pruning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تا ۹۵٪</a:t>
                      </a:r>
                    </a:p>
                  </a:txBody>
                  <a:tcPr/>
                </a:tc>
              </a:tr>
              <a:tr h="134874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Parallel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تک‌رشته‌ای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هر partition روی core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۵–۲۵×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Join/Aggregate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کل جدول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Partition-wise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a:rtl="1">
                        <a:defRPr sz="1000" b="0">
                          <a:solidFill>
                            <a:srgbClr val="282828"/>
                          </a:solidFill>
                          <a:latin typeface="Vazir"/>
                        </a:defRPr>
                      </a:pPr>
                      <a:r>
                        <a:t>۳–۱۵×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34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FFFFFF"/>
                </a:solidFill>
                <a:latin typeface="Vazir"/>
              </a:defRPr>
            </a:pPr>
            <a:r>
              <a:t>۶. نتیجه‌گیری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FFFFFF"/>
                </a:solidFill>
                <a:latin typeface="Vazir"/>
              </a:defRPr>
            </a:pPr>
            <a:r>
              <a:t>صفحه 35 از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DCDCDC"/>
                </a:solidFill>
                <a:latin typeface="Vazir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نتیجه‌گیری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معماری in-memory S/4HANA با column store، compression، parallel processing و HTAP، پارادigm پردازش enterprise را متحول کرده است.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Push-down، indexing و partitioning باید به‌صورت یکپارچه و متناسب با workload طراحی شوند — نه به‌صورت جداگانه.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انتقال محاسبات از ABAP Loop به CDS/SQL Script: کاهش چشمگیر runtime، network load و app server CPU.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ابزارهای trace (ST05، PlanViz، DBACOCKPIT) برای performance engineering عملی ضروری هستند.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Clean-core CDS practices: سیستم upgrade-safe و cloud-ready باقی می‌ماند.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پژوهش آینده: سناریوهای صنعتی، multi-tenant cloud و AI workloads.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36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توصیه‌های عملی برای توسعه‌دهندگان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Set-based programming و push-down را به ABAP loop ترجیح دهید.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Indexing و partitioning را بر اساس الگوی query و data volume طراحی کنید.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CDS Views لایه‌بندی‌شده (I_/C_/Z_) و Clean Core را رعایت کنید.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Performance engineering را از ابتدای چرخه پیاده‌سازی بگنجانید — نه فقط در انتها.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از HTAP برای حذف ETL، dashboard بلادرنگ و analytics روی داده عملیاتی استفاده کنید.</a:t>
            </a:r>
          </a:p>
          <a:p>
            <a:pPr algn="r" a:rtl="1">
              <a:spcAft>
                <a:spcPts val="600"/>
              </a:spcAft>
              <a:defRPr sz="1400" b="0">
                <a:solidFill>
                  <a:srgbClr val="282828"/>
                </a:solidFill>
                <a:latin typeface="Vazir"/>
              </a:defRPr>
            </a:pPr>
            <a:r>
              <a:t>• Expensive Statement Trace و PlanViz را برای شناسایی bottleneckها به‌کار ببرید.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37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2400" b="1">
                <a:solidFill>
                  <a:srgbClr val="003366"/>
                </a:solidFill>
                <a:latin typeface="Vazir"/>
              </a:defRPr>
            </a:pPr>
            <a:r>
              <a:t>منابع و اختصارات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CDS: Core Data Services | RAM: Random Access Memory | CPU: Central Processing Unit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OLTP: Online Transaction Processing | OLAP: Online Analytical Processing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ETL: Extract, Transform, Load | HTAP: Hybrid Transactional/Analytical Processing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PK: Primary Key | AMDP: ABAP Managed Database Procedures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Raikar, T. (2025). High-Performance In-Memory Computing: A Research Study on SAP S/4 HANA Database Layer. American Journal of Technology, 4(2), 94–113.</a:t>
            </a:r>
          </a:p>
          <a:p>
            <a:pPr algn="r" a:rtl="1">
              <a:spcAft>
                <a:spcPts val="600"/>
              </a:spcAft>
              <a:defRPr sz="1300" b="0">
                <a:solidFill>
                  <a:srgbClr val="282828"/>
                </a:solidFill>
                <a:latin typeface="Vazir"/>
              </a:defRPr>
            </a:pPr>
            <a:r>
              <a:t>• DOI: https://doi.org/10.58425/ajt.v4i2.449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38 از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3600" b="1">
                <a:solidFill>
                  <a:srgbClr val="003366"/>
                </a:solidFill>
                <a:latin typeface="Vazir"/>
              </a:defRPr>
            </a:pPr>
            <a:r>
              <a:t>سپاس از توجه شما</a:t>
            </a:r>
          </a:p>
          <a:p>
            <a:pPr algn="ctr" a:rtl="1">
              <a:defRPr sz="2000" b="0">
                <a:solidFill>
                  <a:srgbClr val="006699"/>
                </a:solidFill>
                <a:latin typeface="Vazir"/>
              </a:defRPr>
            </a:pPr>
            <a:r>
              <a:t>سید علی زین الدینی</a:t>
            </a:r>
            <a:br/>
            <a:r>
              <a:t>سوالات؟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19088"/>
            <a:ext cx="84124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پایگاه داده پیشرفته | سید علی زین الدینی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a:rtl="1">
              <a:defRPr sz="1100" b="1">
                <a:solidFill>
                  <a:srgbClr val="6E6E6E"/>
                </a:solidFill>
                <a:latin typeface="Vazir"/>
              </a:defRPr>
            </a:pPr>
            <a:r>
              <a:t>صفحه 39 از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7395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a:rtl="1">
              <a:defRPr sz="1000" b="0">
                <a:solidFill>
                  <a:srgbClr val="8C8C8C"/>
                </a:solidFill>
                <a:latin typeface="Vazir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